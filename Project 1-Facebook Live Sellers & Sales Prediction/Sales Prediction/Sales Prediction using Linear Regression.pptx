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0DB3-9557-92FF-0E26-70E3027BD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C9692-EB0B-B740-08B9-083EA3ACF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9E5E0-F4D8-4DAA-ACF3-B12134DD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99E9F-65C2-DD56-BF57-377731C3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C2DF-225F-CE9D-A370-13A08C81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00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BE27-A2AE-AE7E-D0DA-4F2B4F7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7727B-6683-EBC2-2F06-E5492B399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775CB-A959-0FDF-BDB6-3979B0B3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A6D6-DA37-3ACE-2F76-3DF4AB27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DBC2-8A6C-3249-B772-C7A3BD17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19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1EB8-5C2F-309F-B342-AFDDB3A7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E3066-7C35-EE41-C7F5-ADD0E223B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FB140-8611-0BF1-7401-6DC904C6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8805C-E887-C73D-7996-5CDC25F7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7D21C-7F96-E6E0-FA66-595F8FB3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72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8C9A-BB1D-F28A-B034-8733AF89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7E01-BD9A-20BD-0638-8452E9A71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80E21-7B2E-D2A7-26FA-6F3E07AC8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2D880-CF7E-F623-057C-1612B2EB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BC5CE-99D7-828C-5372-005D843A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6975E-F4DE-C398-2432-D8E105FD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96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B2D5-2E43-1DEF-7B38-98947867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A6679-5BCA-80D3-CDE3-345AC8BFD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E3E75-D301-5AD3-F573-6ADF2B8D8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B5079-3D93-24F5-79E2-7F7004D59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9F0E4-8529-81EF-97C1-2B2C1E6FF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FD873-8104-BB56-1DF3-FA0F63C3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D468B-DAF0-008F-52EE-397BDC6D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690B5-383A-0EBE-EEBE-A8B46736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24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E177-EC99-87C1-6E28-0213A32A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68390-CF0E-2BAC-BB98-992B85F7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96FF6-A088-8549-42B5-EC32EB8B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1441A-D74C-AB17-3DD2-837C19B3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4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6514E9-C855-2BB5-B273-79F7A61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444D3-6F72-F047-DDE0-587F1F38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4F1D8-F4DC-9FE3-EFF0-630F7FD5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68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8D14-FD71-7E3E-EC39-B906899A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577D-7D81-F429-C2F9-6D39DE80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E7030-B060-B990-C98A-8904FE12C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4ABD8-77B1-1026-6F34-777F7588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137D6-9168-FDE0-E6DE-7325107F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AFB64-F77F-605A-A342-B44E82EE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47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7C94-2B92-C014-F7AF-E16B2EF1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47A97-FD8E-FEAB-A9BD-6FC35F2BD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51157-296A-2EEC-96B9-C05337956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F6269-230A-ABAE-DA77-4CD9ED72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3E04A-5860-9A74-5CFA-02611A62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7DE8F-8C69-741D-CA32-0196F275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11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6703-FD22-B8F2-DF9B-50F253D6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ECB64-1074-9746-A1AB-F47E37F0A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422F6-C398-DCC2-6CFA-96FA0389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DBA0D-1646-DCDB-9B2B-FFFB5667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4BF3-2F71-7C03-2CB7-74E0F1A1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86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F50B7-9C26-5482-A0B3-CBF5094C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34EC4-797B-1462-ED86-DC4B60A47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8A162-19F8-D99B-BFA0-73466F8B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0609B-924A-5FC8-9501-68E10D1C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CF83-E1DB-E107-ED9D-8F122A40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86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4092A-DCD2-A23C-90B6-57EA63DDA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FABC5-C4B9-BA36-AD76-A8C5201C0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A6039-9FF4-CC6D-BF31-54D5A244B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86531-318F-42C9-AA24-0A196A760178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83A6C-CDB3-49D4-5B31-11E79F3AB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B497A-7B0F-F189-404C-A2245B503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99318-6CCB-4B7E-AFD6-7AEAA0843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6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393D-00CC-1905-93BE-2C2A09F09A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Prediction using Linear Regression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590AA-78AC-B387-CD13-8793C15175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/>
              <a:t>Supervised Machine Learning Case Study</a:t>
            </a:r>
            <a:endParaRPr lang="en-US" b="1" dirty="0"/>
          </a:p>
          <a:p>
            <a:r>
              <a:rPr lang="en-IN" dirty="0"/>
              <a:t>By: Ashwin Jaishanker</a:t>
            </a:r>
          </a:p>
        </p:txBody>
      </p:sp>
    </p:spTree>
    <p:extLst>
      <p:ext uri="{BB962C8B-B14F-4D97-AF65-F5344CB8AC3E}">
        <p14:creationId xmlns:p14="http://schemas.microsoft.com/office/powerpoint/2010/main" val="373094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2BB3-C0B3-7BD5-4092-EE26805A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96AD7-7A39-9801-13F7-DB5E7F4F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Sales Prediction Using Advertising Data</a:t>
            </a:r>
            <a:endParaRPr lang="en-US" dirty="0"/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predict product sales based on advertising expenditure on </a:t>
            </a:r>
            <a:r>
              <a:rPr lang="en-US" b="1" dirty="0"/>
              <a:t>TV, Radio, and Newspaper</a:t>
            </a:r>
            <a:r>
              <a:rPr lang="en-US" dirty="0"/>
              <a:t> using </a:t>
            </a:r>
            <a:r>
              <a:rPr lang="en-US" b="1" dirty="0"/>
              <a:t>Linear Regression</a:t>
            </a:r>
            <a:r>
              <a:rPr lang="en-US" dirty="0"/>
              <a:t>.</a:t>
            </a:r>
          </a:p>
          <a:p>
            <a:r>
              <a:rPr lang="en-US" b="1" dirty="0"/>
              <a:t>Approach:</a:t>
            </a:r>
            <a:br>
              <a:rPr lang="en-US" dirty="0"/>
            </a:br>
            <a:r>
              <a:rPr lang="en-US" dirty="0"/>
              <a:t>Supervised Machine Learning (Regression)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7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BAB0-7F77-0A08-603D-234C8747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7C80-A592-86BE-F513-B97A21E1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contains advertising spend across:</a:t>
            </a:r>
          </a:p>
          <a:p>
            <a:pPr lvl="1"/>
            <a:r>
              <a:rPr lang="en-US" dirty="0"/>
              <a:t>TV</a:t>
            </a:r>
          </a:p>
          <a:p>
            <a:pPr lvl="1"/>
            <a:r>
              <a:rPr lang="en-US" dirty="0"/>
              <a:t>Radio</a:t>
            </a:r>
          </a:p>
          <a:p>
            <a:pPr lvl="1"/>
            <a:r>
              <a:rPr lang="en-US" dirty="0"/>
              <a:t>Newspaper</a:t>
            </a:r>
          </a:p>
          <a:p>
            <a:r>
              <a:rPr lang="en-US" dirty="0"/>
              <a:t>Target variable: </a:t>
            </a:r>
            <a:r>
              <a:rPr lang="en-US" b="1" dirty="0"/>
              <a:t>Sales</a:t>
            </a:r>
            <a:endParaRPr lang="en-US" dirty="0"/>
          </a:p>
          <a:p>
            <a:r>
              <a:rPr lang="en-US" dirty="0"/>
              <a:t>Dataset cleaned by removing missing values</a:t>
            </a:r>
          </a:p>
          <a:p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Understand which advertising medium has the highest impact on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12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691D-F207-D81A-A912-891AF145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72610-F0C0-8A52-EF91-0DD99DD3F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459865"/>
            <a:ext cx="10515600" cy="4351338"/>
          </a:xfrm>
        </p:spPr>
        <p:txBody>
          <a:bodyPr/>
          <a:lstStyle/>
          <a:p>
            <a:r>
              <a:rPr lang="en-US" sz="2000" b="1" dirty="0"/>
              <a:t>Key Findings:</a:t>
            </a:r>
            <a:endParaRPr lang="en-US" sz="2000" dirty="0"/>
          </a:p>
          <a:p>
            <a:r>
              <a:rPr lang="en-US" sz="2000" b="1" dirty="0"/>
              <a:t>TV and Radio advertising</a:t>
            </a:r>
            <a:r>
              <a:rPr lang="en-US" sz="2000" dirty="0"/>
              <a:t> show strong positive correlation with sales</a:t>
            </a:r>
          </a:p>
          <a:p>
            <a:r>
              <a:rPr lang="en-US" sz="2000" dirty="0"/>
              <a:t>Newspaper advertising has comparatively lower influence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447190-BE21-AD52-2402-F267202A6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56" y="3001137"/>
            <a:ext cx="43719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7F4F5D-585F-6688-E5E4-BF237456AEF1}"/>
              </a:ext>
            </a:extLst>
          </p:cNvPr>
          <p:cNvSpPr txBox="1"/>
          <p:nvPr/>
        </p:nvSpPr>
        <p:spPr>
          <a:xfrm>
            <a:off x="5140452" y="413598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TV and Radio advertising expenditures show a stronger positive correlation with sales compared to Newspaper advertising.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75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E829-6A81-182B-AD64-E7722453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C2677-02BA-EF85-1FA6-9BF7586F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359281"/>
            <a:ext cx="10515600" cy="4351338"/>
          </a:xfrm>
        </p:spPr>
        <p:txBody>
          <a:bodyPr/>
          <a:lstStyle/>
          <a:p>
            <a:r>
              <a:rPr lang="en-US" sz="2400" dirty="0"/>
              <a:t>Features used: </a:t>
            </a:r>
            <a:r>
              <a:rPr lang="en-US" sz="2400" b="1" dirty="0"/>
              <a:t>TV, Radio, Newspaper</a:t>
            </a:r>
            <a:endParaRPr lang="en-US" sz="2400" dirty="0"/>
          </a:p>
          <a:p>
            <a:r>
              <a:rPr lang="en-US" sz="2400" dirty="0"/>
              <a:t>Model trained using </a:t>
            </a:r>
            <a:r>
              <a:rPr lang="en-US" sz="2400" b="1" dirty="0"/>
              <a:t>80–20 train-test split</a:t>
            </a:r>
            <a:endParaRPr lang="en-US" sz="2400" dirty="0"/>
          </a:p>
          <a:p>
            <a:r>
              <a:rPr lang="en-US" sz="2400" dirty="0"/>
              <a:t>Linear Regression applied to predict sales</a:t>
            </a:r>
          </a:p>
          <a:p>
            <a:r>
              <a:rPr lang="en-US" sz="2400" b="1" dirty="0"/>
              <a:t>Insight:</a:t>
            </a:r>
            <a:endParaRPr lang="en-US" sz="2400" dirty="0"/>
          </a:p>
          <a:p>
            <a:r>
              <a:rPr lang="en-US" sz="2400" dirty="0"/>
              <a:t>TV advertising has the </a:t>
            </a:r>
            <a:r>
              <a:rPr lang="en-US" sz="2400" b="1" dirty="0"/>
              <a:t>highest impact</a:t>
            </a:r>
            <a:r>
              <a:rPr lang="en-US" sz="2400" dirty="0"/>
              <a:t> on sales based on regression coefficients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B491FC-A5BC-21E9-739C-4C8B5C11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88" y="3562199"/>
            <a:ext cx="3578352" cy="309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1835C8-B4F4-17FB-6250-80396EA1BC0F}"/>
              </a:ext>
            </a:extLst>
          </p:cNvPr>
          <p:cNvSpPr txBox="1"/>
          <p:nvPr/>
        </p:nvSpPr>
        <p:spPr>
          <a:xfrm>
            <a:off x="4373118" y="4402943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coefficients indicate that TV advertising has the highest impact on sales, followed by Radio, while Newspaper advertising contributes the least.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98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A6F5-FC7E-5305-72FD-4CEA4686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&amp; Prediction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506A8B-1C96-661E-C88A-C327D0C50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3151"/>
            <a:ext cx="78668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evaluated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alignment between actual and predicted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Prediction: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TV = 200, Radio = 40, Newspaper = 50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Predicted sales computed using trained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4A496CBE-BE79-8650-FC2F-785D6022E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517502"/>
            <a:ext cx="4734497" cy="334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C2234-1E5C-5922-4E19-7A7CB17EF8E2}"/>
              </a:ext>
            </a:extLst>
          </p:cNvPr>
          <p:cNvSpPr txBox="1"/>
          <p:nvPr/>
        </p:nvSpPr>
        <p:spPr>
          <a:xfrm>
            <a:off x="5237417" y="4585823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linear regression model demonstrates good predictive performance, with predicted sales closely aligning with the actual sales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76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CBA0-52C5-CDB6-3C02-820AEDB5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CA9B-64AC-C22A-4A76-0AD964D7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effectively models sales trends</a:t>
            </a:r>
          </a:p>
          <a:p>
            <a:r>
              <a:rPr lang="en-US" b="1" dirty="0"/>
              <a:t>TV advertising</a:t>
            </a:r>
            <a:r>
              <a:rPr lang="en-US" dirty="0"/>
              <a:t> contributes most to sales growth</a:t>
            </a:r>
          </a:p>
          <a:p>
            <a:r>
              <a:rPr lang="en-US" dirty="0"/>
              <a:t>Normalization does not significantly change performance</a:t>
            </a:r>
          </a:p>
          <a:p>
            <a:r>
              <a:rPr lang="en-US" dirty="0"/>
              <a:t>Using only Radio and Newspaper reduces model accuracy</a:t>
            </a:r>
          </a:p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Advertising spend decisions can be optimized using regression-based prediction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88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Sales Prediction using Linear Regression</vt:lpstr>
      <vt:lpstr>Title &amp; Objective</vt:lpstr>
      <vt:lpstr>Dataset Overview</vt:lpstr>
      <vt:lpstr>Exploratory Data Analysis</vt:lpstr>
      <vt:lpstr>Linear Regression Model</vt:lpstr>
      <vt:lpstr>Model Performance &amp; Prediction</vt:lpstr>
      <vt:lpstr>Conclusion &amp; Observations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Jaishanker</dc:creator>
  <cp:lastModifiedBy>Ashwin Jaishanker</cp:lastModifiedBy>
  <cp:revision>1</cp:revision>
  <dcterms:created xsi:type="dcterms:W3CDTF">2026-01-06T13:26:51Z</dcterms:created>
  <dcterms:modified xsi:type="dcterms:W3CDTF">2026-01-06T13:27:30Z</dcterms:modified>
</cp:coreProperties>
</file>