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ABF29-9931-1EDA-154D-C08C67FEF2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AAD2B-1063-1206-4C0E-19BDA0A8B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98389F-5148-6FB1-4909-77EA63AF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CD4DDB-7DD3-BA29-C952-86E31857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47DF8-E013-A828-1912-A96071A24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79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E3A7-1E44-3120-E5BC-6C6C132A6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9A364-A06C-816C-B58C-E1D6552B2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12B50-6350-60DF-D249-F70F9C51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D8CBE-65E0-3A1C-F1F1-0D07DFBCD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6127-B76A-B9D8-5643-153919CD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290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8A7A-5A6B-DF36-D47F-F0A13B1EC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047D7-4D96-E645-A79C-2815905C1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795DE-8F57-3C8B-0FE6-0375229C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EFAA0-581E-2B68-9D60-818502F5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3618F-714D-5253-AAE2-23848ECC7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097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2919E-955E-E194-F1E3-96A5BD9F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F041-0040-CBB7-67F2-3A0A4879E7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66C83-AEF0-6B80-D212-F46D27A71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2DCE8-B683-CD5F-78D0-BFB15BAF0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22991-C5A2-99E7-5435-FFFE3E4F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08849-BBA6-CC97-0BEB-94DF894E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89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7DAE-9370-A6B0-0EDD-D87F5D568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36C8A-CC28-12CB-15A3-4971627AED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401F48-2F1F-93C9-A2A8-F83AECFE4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557B39-959D-3EEB-8CB3-96BA4BE0BB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21BA6F-E555-1230-F7C9-739A113D2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F40411-115F-0C78-1217-CDEF51554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138BD4-5F7A-CC98-42D6-ECA43A5F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DD85AF-0820-9D80-EE88-7482A7D81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804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42B3-EC9E-932F-6ED6-CBEA65E22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6086EC-D277-CCD9-BBB3-25835804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3E906-E5EF-4CD0-AD4E-D210659EA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84539-6FC9-D0AE-50D1-906078636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00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B54C50-6521-1AA4-8889-0E9680DA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2BD879-3580-9406-47F6-DBBD0952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CA757B-96BC-6147-417E-17CC7B93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858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C2ED6-948A-E188-3A81-CBEC9BFCF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7F24B-B4D6-CA80-FDF7-1463FB8A9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47CC5-BE7C-A582-26EA-B23F9E2AC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AF2BA-B5AA-4FF0-6547-111D51344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D97A3-36FB-6E57-C22B-9099944D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4BBE4-55D0-1141-1F07-8F7FC47E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799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D08A8-53AD-26E7-85BA-62A3875D4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949A6A-BEF1-3F4D-5B0A-84441ED8AB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B6DD0-E1F7-AF9E-DFE6-98656C19D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0AA13-1C24-0240-2271-98310C3F7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49962-27C1-6CE8-F7E7-E0F6A2DD4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8406F-8807-BB65-6C30-2F8E93972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36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4957-5B4B-1721-947D-575840395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D6DBA-4340-C741-2E01-6F8AAA0D1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0EC01-BD3B-D73F-2829-7D0419F0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F2FAD-2B4E-06E6-17DC-267348893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1557F-BD20-C286-4DEF-7CAE43E6A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9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7CE2BE-236C-69B6-3EDA-0B5130EE73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218B57-05D0-106F-5204-E944A2761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144CE-DD7E-692F-F4BE-4F167C18F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A1747-EBBC-2891-73A9-B6E970948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68343-480B-6DE5-5879-A8A967FC2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96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17F734-B6AF-46C0-0F73-6BBF23727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9E4F2-C8FC-61DD-F655-8086D673A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7C5D-61A1-8E9F-BF5A-AAFCE0B0D3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91620-A93D-499D-80AB-44F39D6B46D2}" type="datetimeFigureOut">
              <a:rPr lang="en-IN" smtClean="0"/>
              <a:t>07-01-2026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98E71-D24E-B3CA-7DEF-527B4F22C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D1251-B82A-05AF-3009-682C24697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B8350-9305-4737-A24A-E12F4FCD29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199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A6EA-D431-E405-4943-CE50589976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Wine Quality Prediction</a:t>
            </a:r>
            <a:br>
              <a:rPr lang="en-US" dirty="0"/>
            </a:br>
            <a:r>
              <a:rPr lang="en-US" dirty="0"/>
              <a:t> (Red Wine Dataset)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7326B-D844-156B-A8CF-CB36F1C539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Supervised Machine Learning Case Study</a:t>
            </a:r>
          </a:p>
          <a:p>
            <a:r>
              <a:rPr lang="en-US"/>
              <a:t>By: Ashwin Jaishanker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7212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164B-4679-4C86-DAD3-83BE61D8D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Wine Quality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6A9A0-35A1-39AF-FAF4-BF259704A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To analyze the physicochemical properties of red wine and predict </a:t>
            </a:r>
            <a:r>
              <a:rPr lang="en-US" b="1" dirty="0"/>
              <a:t>wine quality</a:t>
            </a:r>
            <a:r>
              <a:rPr lang="en-US" dirty="0"/>
              <a:t> using supervised machine learning models.</a:t>
            </a:r>
          </a:p>
          <a:p>
            <a:r>
              <a:rPr lang="en-US" b="1" dirty="0"/>
              <a:t>Models Used:</a:t>
            </a:r>
            <a:br>
              <a:rPr lang="en-US" dirty="0"/>
            </a:br>
            <a:r>
              <a:rPr lang="en-US" dirty="0"/>
              <a:t>Decision Tree &amp; Random Forest Classifiers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1900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2B0B4-49BC-0673-5CFD-8DA8BEE0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75E34-5C21-BE83-AB1D-D15382F6D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Dataset consists of </a:t>
            </a:r>
            <a:r>
              <a:rPr lang="en-IN" b="1" dirty="0"/>
              <a:t>physicochemical properties</a:t>
            </a:r>
            <a:r>
              <a:rPr lang="en-IN" dirty="0"/>
              <a:t> of red wine samples</a:t>
            </a:r>
          </a:p>
          <a:p>
            <a:r>
              <a:rPr lang="en-IN" dirty="0"/>
              <a:t>Target variable: </a:t>
            </a:r>
            <a:r>
              <a:rPr lang="en-IN" b="1" dirty="0"/>
              <a:t>Quality</a:t>
            </a:r>
            <a:r>
              <a:rPr lang="en-IN" dirty="0"/>
              <a:t> (integer score from 0 to 10)</a:t>
            </a:r>
          </a:p>
          <a:p>
            <a:r>
              <a:rPr lang="en-IN" dirty="0"/>
              <a:t>Important features:</a:t>
            </a:r>
          </a:p>
          <a:p>
            <a:pPr lvl="1"/>
            <a:r>
              <a:rPr lang="en-IN" dirty="0"/>
              <a:t>Fixed acidity</a:t>
            </a:r>
          </a:p>
          <a:p>
            <a:pPr lvl="1"/>
            <a:r>
              <a:rPr lang="en-IN" dirty="0"/>
              <a:t>Volatile acidity</a:t>
            </a:r>
          </a:p>
          <a:p>
            <a:pPr lvl="1"/>
            <a:r>
              <a:rPr lang="en-IN" dirty="0"/>
              <a:t>Residual sugar</a:t>
            </a:r>
          </a:p>
          <a:p>
            <a:pPr lvl="1"/>
            <a:r>
              <a:rPr lang="en-IN" dirty="0"/>
              <a:t>Free </a:t>
            </a:r>
            <a:r>
              <a:rPr lang="en-IN" dirty="0" err="1"/>
              <a:t>sulfur</a:t>
            </a:r>
            <a:r>
              <a:rPr lang="en-IN" dirty="0"/>
              <a:t> dioxide</a:t>
            </a:r>
          </a:p>
          <a:p>
            <a:pPr lvl="1"/>
            <a:r>
              <a:rPr lang="en-IN" dirty="0"/>
              <a:t>Alcohol</a:t>
            </a:r>
          </a:p>
          <a:p>
            <a:r>
              <a:rPr lang="en-IN" b="1" dirty="0"/>
              <a:t>Goal:</a:t>
            </a:r>
            <a:br>
              <a:rPr lang="en-IN" dirty="0"/>
            </a:br>
            <a:r>
              <a:rPr lang="en-IN" dirty="0"/>
              <a:t>Understand how chemical composition affects wine quality.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307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3C9E-22A0-40DB-3B7D-8AED00170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84" y="-196470"/>
            <a:ext cx="10515600" cy="1325563"/>
          </a:xfrm>
        </p:spPr>
        <p:txBody>
          <a:bodyPr/>
          <a:lstStyle/>
          <a:p>
            <a:r>
              <a:rPr lang="en-IN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6EF3F-0541-AA8D-4A6D-6E46867B5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456" y="83807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1600" b="1" dirty="0"/>
              <a:t>Key Observations:</a:t>
            </a:r>
            <a:endParaRPr lang="en-US" sz="1600" dirty="0"/>
          </a:p>
          <a:p>
            <a:r>
              <a:rPr lang="en-US" sz="1600" b="1" dirty="0"/>
              <a:t>Alcohol content</a:t>
            </a:r>
            <a:r>
              <a:rPr lang="en-US" sz="1600" dirty="0"/>
              <a:t> shows strong positive correlation with wine quality</a:t>
            </a:r>
          </a:p>
          <a:p>
            <a:r>
              <a:rPr lang="en-US" sz="1600" b="1" dirty="0"/>
              <a:t>Volatile acidity</a:t>
            </a:r>
            <a:r>
              <a:rPr lang="en-US" sz="1600" dirty="0"/>
              <a:t> shows negative correlation with quality</a:t>
            </a:r>
          </a:p>
          <a:p>
            <a:r>
              <a:rPr lang="en-US" sz="1600" dirty="0"/>
              <a:t>Some features are weakly correlated</a:t>
            </a:r>
          </a:p>
          <a:p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CB25F84-75CA-B5AF-94D3-E0FABB910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36" y="2144453"/>
            <a:ext cx="5276088" cy="471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C24446-0E19-5A0A-8EF1-F0B4967DAC7B}"/>
              </a:ext>
            </a:extLst>
          </p:cNvPr>
          <p:cNvSpPr txBox="1"/>
          <p:nvPr/>
        </p:nvSpPr>
        <p:spPr>
          <a:xfrm>
            <a:off x="5739384" y="3560655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Alcohol content shows a strong positive correlation with wine quality, while volatile acidity and sulfur dioxide levels exhibit negative correlation with quality.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8695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132F-25C7-6916-C0C3-7C874C162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vs Quality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41DB19-FD7D-BE12-DDCE-2D4426556E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51076"/>
            <a:ext cx="88087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quality wines generally have: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alcohol content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volatile acidity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Volatile acidity has a noticeable impact on quality distribution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9FE09255-11A3-0FBB-B6CC-7157CF50B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95" y="2749550"/>
            <a:ext cx="5341487" cy="391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6AD933-9623-12C7-980E-42982B126D67}"/>
              </a:ext>
            </a:extLst>
          </p:cNvPr>
          <p:cNvSpPr txBox="1"/>
          <p:nvPr/>
        </p:nvSpPr>
        <p:spPr>
          <a:xfrm>
            <a:off x="6097524" y="3890879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Wine samples with lower volatile acidity generally correspond to higher quality ratings, indicating a negative relationship between volatile acidity and quality.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7331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C7FD-3768-7C76-6501-4918D072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184" y="-107506"/>
            <a:ext cx="10515600" cy="1325563"/>
          </a:xfrm>
        </p:spPr>
        <p:txBody>
          <a:bodyPr/>
          <a:lstStyle/>
          <a:p>
            <a:r>
              <a:rPr lang="en-IN" dirty="0"/>
              <a:t>Model Training &amp;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AB2F1-9259-2D93-8A55-F4AA4F087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24" y="902081"/>
            <a:ext cx="10024872" cy="3340735"/>
          </a:xfrm>
        </p:spPr>
        <p:txBody>
          <a:bodyPr/>
          <a:lstStyle/>
          <a:p>
            <a:r>
              <a:rPr lang="en-US" sz="1600" dirty="0"/>
              <a:t>Models trained:</a:t>
            </a:r>
          </a:p>
          <a:p>
            <a:pPr lvl="1"/>
            <a:r>
              <a:rPr lang="en-US" sz="1600" dirty="0"/>
              <a:t>Decision Tree Classifier</a:t>
            </a:r>
          </a:p>
          <a:p>
            <a:pPr lvl="1"/>
            <a:r>
              <a:rPr lang="en-US" sz="1600" dirty="0"/>
              <a:t>Random Forest Classifier</a:t>
            </a:r>
          </a:p>
          <a:p>
            <a:r>
              <a:rPr lang="en-US" sz="1600" dirty="0"/>
              <a:t>Data split: </a:t>
            </a:r>
            <a:r>
              <a:rPr lang="en-US" sz="1600" b="1" dirty="0"/>
              <a:t>80% training, 20% testing</a:t>
            </a:r>
            <a:endParaRPr lang="en-US" sz="1600" dirty="0"/>
          </a:p>
          <a:p>
            <a:r>
              <a:rPr lang="en-US" sz="1600" b="1" dirty="0"/>
              <a:t>Result:</a:t>
            </a:r>
            <a:endParaRPr lang="en-US" sz="1600" dirty="0"/>
          </a:p>
          <a:p>
            <a:r>
              <a:rPr lang="en-US" sz="1600" dirty="0"/>
              <a:t>Random Forest achieved </a:t>
            </a:r>
            <a:r>
              <a:rPr lang="en-US" sz="1600" b="1" dirty="0"/>
              <a:t>higher accuracy</a:t>
            </a:r>
            <a:r>
              <a:rPr lang="en-US" sz="1600" dirty="0"/>
              <a:t> than Decision Tree</a:t>
            </a:r>
          </a:p>
          <a:p>
            <a:endParaRPr lang="en-IN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FE453D5-91EF-2EA7-9C50-AE82D7A3C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54" y="2818256"/>
            <a:ext cx="4895850" cy="3997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B6A0D8-F782-BF74-A741-FE610E79FEB9}"/>
              </a:ext>
            </a:extLst>
          </p:cNvPr>
          <p:cNvSpPr txBox="1"/>
          <p:nvPr/>
        </p:nvSpPr>
        <p:spPr>
          <a:xfrm>
            <a:off x="5589270" y="4064615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Random Forest achieves higher prediction accuracy than Decision Tree, demonstrating improved generalization through ensemble learning.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690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DF727-7049-3490-2027-34221AAB5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&amp; Insights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5D92A1-BAC8-9C20-BFC9-59FEE2CCD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Wine quality can be effectively predicted using ML classifiers</a:t>
            </a:r>
          </a:p>
          <a:p>
            <a:r>
              <a:rPr lang="en-US" b="1" dirty="0"/>
              <a:t>Random Forest outperforms Decision Tree</a:t>
            </a:r>
            <a:r>
              <a:rPr lang="en-US" dirty="0"/>
              <a:t> due to ensemble learning</a:t>
            </a:r>
          </a:p>
          <a:p>
            <a:r>
              <a:rPr lang="en-US" dirty="0"/>
              <a:t>Alcohol and volatile acidity are key indicators of wine quality</a:t>
            </a:r>
          </a:p>
          <a:p>
            <a:r>
              <a:rPr lang="en-US" b="1" dirty="0"/>
              <a:t>Conclusion:</a:t>
            </a:r>
            <a:br>
              <a:rPr lang="en-US" dirty="0"/>
            </a:br>
            <a:r>
              <a:rPr lang="en-US" dirty="0"/>
              <a:t>Random Forest is more suitable for predicting wine quality accurately.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085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Wine Quality Prediction  (Red Wine Dataset)</vt:lpstr>
      <vt:lpstr>Wine Quality Prediction</vt:lpstr>
      <vt:lpstr>Dataset Overview</vt:lpstr>
      <vt:lpstr>Exploratory Data Analysis</vt:lpstr>
      <vt:lpstr>Feature vs Quality Analysis</vt:lpstr>
      <vt:lpstr>Model Training &amp; Comparison</vt:lpstr>
      <vt:lpstr>Conclusion &amp; Insights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Ashwin Jaishanker</dc:creator>
  <cp:lastModifiedBy>Ashwin Jaishanker</cp:lastModifiedBy>
  <cp:revision>1</cp:revision>
  <dcterms:created xsi:type="dcterms:W3CDTF">2026-01-07T04:43:06Z</dcterms:created>
  <dcterms:modified xsi:type="dcterms:W3CDTF">2026-01-07T04:43:47Z</dcterms:modified>
</cp:coreProperties>
</file>